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  <p:sldId id="269" r:id="rId13"/>
    <p:sldId id="270" r:id="rId14"/>
    <p:sldId id="282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8" r:id="rId27"/>
  </p:sldIdLst>
  <p:sldSz cx="18288000" cy="10287000"/>
  <p:notesSz cx="6858000" cy="9144000"/>
  <p:embeddedFontLst>
    <p:embeddedFont>
      <p:font typeface="League Spartan" panose="020B0604020202020204" charset="0"/>
      <p:regular r:id="rId28"/>
    </p:embeddedFont>
    <p:embeddedFont>
      <p:font typeface="Poppins" panose="00000500000000000000" pitchFamily="2" charset="0"/>
      <p:regular r:id="rId29"/>
    </p:embeddedFont>
    <p:embeddedFont>
      <p:font typeface="Poppins Bold" panose="00000800000000000000" charset="0"/>
      <p:regular r:id="rId30"/>
    </p:embeddedFont>
    <p:embeddedFont>
      <p:font typeface="Times New Roman Bold" panose="02020803070505020304" pitchFamily="18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979" autoAdjust="0"/>
  </p:normalViewPr>
  <p:slideViewPr>
    <p:cSldViewPr>
      <p:cViewPr varScale="1">
        <p:scale>
          <a:sx n="43" d="100"/>
          <a:sy n="43" d="100"/>
        </p:scale>
        <p:origin x="7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00260" y="1677602"/>
            <a:ext cx="7687481" cy="60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TEKNIK INFORMATIKA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4184" y="3625464"/>
            <a:ext cx="15819633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PENERAPAN METODE STACKING ENSEMBLE UNTUK KLASFIKASI PENYAKIT DIABETES MELITUS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57553" y="6335327"/>
            <a:ext cx="6363047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220411100029-ABDUL RAHEM FAQIH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60849" y="8564177"/>
            <a:ext cx="12166303" cy="39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 b="1" spc="1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DOSEN PEMBIMBING 1:  SIGIT SUSANTO PUTRO, S.KOM., M.KOM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75098" y="9075115"/>
            <a:ext cx="13626902" cy="369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 b="1" spc="16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DOSEN PEMBIMBING 2: DR. EKA MALA SARI ROCHMAN, S.KOM., M.KOM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707115" y="7887902"/>
            <a:ext cx="873770" cy="76200"/>
            <a:chOff x="0" y="0"/>
            <a:chExt cx="1165027" cy="101600"/>
          </a:xfrm>
        </p:grpSpPr>
        <p:sp>
          <p:nvSpPr>
            <p:cNvPr id="13" name="Freeform 1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90600" y="3644322"/>
            <a:ext cx="14050450" cy="261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851" lvl="2" indent="-213284" algn="just">
              <a:lnSpc>
                <a:spcPts val="4198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Learning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telah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banyak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diterapkan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bidang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kesehatan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9851" lvl="2" indent="-213284" algn="just">
              <a:lnSpc>
                <a:spcPts val="4198"/>
              </a:lnSpc>
              <a:buFont typeface="Arial"/>
              <a:buChar char="⚬"/>
            </a:pP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merupakan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salah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satu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teknik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machine learning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diagnosis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penyakit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(KNN, SVM, ANN, LR)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memiliki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keterbatasan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11870300" y="6703784"/>
            <a:ext cx="6417700" cy="3583216"/>
            <a:chOff x="0" y="0"/>
            <a:chExt cx="8556933" cy="4777621"/>
          </a:xfrm>
        </p:grpSpPr>
        <p:sp>
          <p:nvSpPr>
            <p:cNvPr id="8" name="Freeform 8"/>
            <p:cNvSpPr/>
            <p:nvPr/>
          </p:nvSpPr>
          <p:spPr>
            <a:xfrm flipV="1">
              <a:off x="0" y="0"/>
              <a:ext cx="8556879" cy="4777613"/>
            </a:xfrm>
            <a:custGeom>
              <a:avLst/>
              <a:gdLst/>
              <a:ahLst/>
              <a:cxnLst/>
              <a:rect l="l" t="t" r="r" b="b"/>
              <a:pathLst>
                <a:path w="8556879" h="4777613">
                  <a:moveTo>
                    <a:pt x="0" y="4777613"/>
                  </a:moveTo>
                  <a:lnTo>
                    <a:pt x="8556879" y="4777613"/>
                  </a:lnTo>
                  <a:lnTo>
                    <a:pt x="8556879" y="0"/>
                  </a:lnTo>
                  <a:lnTo>
                    <a:pt x="0" y="0"/>
                  </a:lnTo>
                  <a:lnTo>
                    <a:pt x="0" y="4777613"/>
                  </a:lnTo>
                  <a:close/>
                </a:path>
              </a:pathLst>
            </a:custGeom>
            <a:blipFill>
              <a:blip r:embed="rId3"/>
              <a:stretch>
                <a:fillRect l="-29" r="-29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818722"/>
            <a:ext cx="768748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1870300" y="6703784"/>
            <a:ext cx="6417700" cy="3583216"/>
            <a:chOff x="0" y="0"/>
            <a:chExt cx="8556933" cy="4777621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8556879" cy="4777613"/>
            </a:xfrm>
            <a:custGeom>
              <a:avLst/>
              <a:gdLst/>
              <a:ahLst/>
              <a:cxnLst/>
              <a:rect l="l" t="t" r="r" b="b"/>
              <a:pathLst>
                <a:path w="8556879" h="4777613">
                  <a:moveTo>
                    <a:pt x="0" y="4777613"/>
                  </a:moveTo>
                  <a:lnTo>
                    <a:pt x="8556879" y="4777613"/>
                  </a:lnTo>
                  <a:lnTo>
                    <a:pt x="8556879" y="0"/>
                  </a:lnTo>
                  <a:lnTo>
                    <a:pt x="0" y="0"/>
                  </a:lnTo>
                  <a:lnTo>
                    <a:pt x="0" y="4777613"/>
                  </a:lnTo>
                  <a:close/>
                </a:path>
              </a:pathLst>
            </a:custGeom>
            <a:blipFill>
              <a:blip r:embed="rId3"/>
              <a:stretch>
                <a:fillRect l="-29" r="-29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00260" y="1672313"/>
            <a:ext cx="768748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PERMASALAHAN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18775" y="3520437"/>
            <a:ext cx="14050450" cy="261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851" lvl="2" indent="-213284" algn="just">
              <a:lnSpc>
                <a:spcPts val="4198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machine learning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(SVM, KNN, LR, ANN)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menunjukkan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keterbatasan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hal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39851" lvl="2" indent="-213284" algn="just">
              <a:lnSpc>
                <a:spcPts val="4198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Stacking Ensemble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diajukan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sebagai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namun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kinerjanya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sangat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bergantung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pemilihan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meta learner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tepat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99"/>
              </a:lnSpc>
            </a:pP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818722"/>
            <a:ext cx="735330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METODE USULAN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999822"/>
            <a:ext cx="12255159" cy="319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Mengusulkan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Ensemble (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KNN, LR, ANN, dan SVM)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meningkatkan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Melakukan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pengujian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mengidentifikasi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meta-learner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terbaik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menguji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meta-learner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berbeda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keempat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99"/>
              </a:lnSpc>
            </a:pP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11870300" y="6703784"/>
            <a:ext cx="6417700" cy="3583216"/>
            <a:chOff x="0" y="0"/>
            <a:chExt cx="8556933" cy="4777621"/>
          </a:xfrm>
        </p:grpSpPr>
        <p:sp>
          <p:nvSpPr>
            <p:cNvPr id="10" name="Freeform 10"/>
            <p:cNvSpPr/>
            <p:nvPr/>
          </p:nvSpPr>
          <p:spPr>
            <a:xfrm flipV="1">
              <a:off x="0" y="0"/>
              <a:ext cx="8556879" cy="4777613"/>
            </a:xfrm>
            <a:custGeom>
              <a:avLst/>
              <a:gdLst/>
              <a:ahLst/>
              <a:cxnLst/>
              <a:rect l="l" t="t" r="r" b="b"/>
              <a:pathLst>
                <a:path w="8556879" h="4777613">
                  <a:moveTo>
                    <a:pt x="0" y="4777613"/>
                  </a:moveTo>
                  <a:lnTo>
                    <a:pt x="8556879" y="4777613"/>
                  </a:lnTo>
                  <a:lnTo>
                    <a:pt x="8556879" y="0"/>
                  </a:lnTo>
                  <a:lnTo>
                    <a:pt x="0" y="0"/>
                  </a:lnTo>
                  <a:lnTo>
                    <a:pt x="0" y="4777613"/>
                  </a:lnTo>
                  <a:close/>
                </a:path>
              </a:pathLst>
            </a:custGeom>
            <a:blipFill>
              <a:blip r:embed="rId3"/>
              <a:stretch>
                <a:fillRect l="-29" r="-29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818722"/>
            <a:ext cx="9172774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PERTANYAAN PENELITIAN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1889350" y="6703784"/>
            <a:ext cx="6417700" cy="3583216"/>
            <a:chOff x="0" y="0"/>
            <a:chExt cx="8556933" cy="4777621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8556879" cy="4777613"/>
            </a:xfrm>
            <a:custGeom>
              <a:avLst/>
              <a:gdLst/>
              <a:ahLst/>
              <a:cxnLst/>
              <a:rect l="l" t="t" r="r" b="b"/>
              <a:pathLst>
                <a:path w="8556879" h="4777613">
                  <a:moveTo>
                    <a:pt x="0" y="4777613"/>
                  </a:moveTo>
                  <a:lnTo>
                    <a:pt x="8556879" y="4777613"/>
                  </a:lnTo>
                  <a:lnTo>
                    <a:pt x="8556879" y="0"/>
                  </a:lnTo>
                  <a:lnTo>
                    <a:pt x="0" y="0"/>
                  </a:lnTo>
                  <a:lnTo>
                    <a:pt x="0" y="4777613"/>
                  </a:lnTo>
                  <a:close/>
                </a:path>
              </a:pathLst>
            </a:custGeom>
            <a:blipFill>
              <a:blip r:embed="rId3"/>
              <a:stretch>
                <a:fillRect l="-29" r="-29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895047"/>
            <a:ext cx="12255159" cy="261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Apakah metode Stacking Ensemble yang menggabungkan K-Nearest Neighbor (KNN), Logistic Regression (LR), Artificial Neural Network (ANN), dan Support Vector Machine (SVM) dapat meningkatkan performa klasifikasi diabetes melitus dibandingkan dengan penggunaan masing-masing algoritma secara tunggal.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818722"/>
            <a:ext cx="860393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DAN MANFAAT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276833"/>
            <a:ext cx="7626662" cy="380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565" lvl="2" indent="-191522" algn="just">
              <a:lnSpc>
                <a:spcPts val="3769"/>
              </a:lnSpc>
              <a:buFont typeface="Arial"/>
              <a:buChar char="⚬"/>
            </a:pP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menganalisis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membandingkan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diabetes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melitus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antara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Ensemble yang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menggabungkan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K-Nearest Neighbor (KNN), Logistic Regression (LR), Artificial Neural Network (ANN), dan Support Vector Machine (SVM)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masing-masing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algoritma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0600" y="3209372"/>
            <a:ext cx="7664762" cy="800377"/>
            <a:chOff x="0" y="0"/>
            <a:chExt cx="10219683" cy="1067169"/>
          </a:xfrm>
        </p:grpSpPr>
        <p:grpSp>
          <p:nvGrpSpPr>
            <p:cNvPr id="10" name="Group 10"/>
            <p:cNvGrpSpPr/>
            <p:nvPr/>
          </p:nvGrpSpPr>
          <p:grpSpPr>
            <a:xfrm>
              <a:off x="50800" y="0"/>
              <a:ext cx="10168883" cy="1034174"/>
              <a:chOff x="0" y="0"/>
              <a:chExt cx="10168883" cy="103417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168890" cy="1034208"/>
              </a:xfrm>
              <a:custGeom>
                <a:avLst/>
                <a:gdLst/>
                <a:ahLst/>
                <a:cxnLst/>
                <a:rect l="l" t="t" r="r" b="b"/>
                <a:pathLst>
                  <a:path w="10168890" h="1034208">
                    <a:moveTo>
                      <a:pt x="154178" y="0"/>
                    </a:moveTo>
                    <a:lnTo>
                      <a:pt x="10014712" y="0"/>
                    </a:lnTo>
                    <a:cubicBezTo>
                      <a:pt x="10055606" y="0"/>
                      <a:pt x="10094849" y="11143"/>
                      <a:pt x="10123678" y="30991"/>
                    </a:cubicBezTo>
                    <a:cubicBezTo>
                      <a:pt x="10152507" y="50839"/>
                      <a:pt x="10168890" y="77652"/>
                      <a:pt x="10168890" y="105683"/>
                    </a:cubicBezTo>
                    <a:lnTo>
                      <a:pt x="10168890" y="928514"/>
                    </a:lnTo>
                    <a:cubicBezTo>
                      <a:pt x="10168890" y="986840"/>
                      <a:pt x="10099929" y="1034208"/>
                      <a:pt x="10014712" y="1034208"/>
                    </a:cubicBezTo>
                    <a:lnTo>
                      <a:pt x="154178" y="1034208"/>
                    </a:lnTo>
                    <a:cubicBezTo>
                      <a:pt x="113284" y="1034208"/>
                      <a:pt x="74041" y="1023054"/>
                      <a:pt x="45212" y="1003206"/>
                    </a:cubicBezTo>
                    <a:cubicBezTo>
                      <a:pt x="16383" y="983358"/>
                      <a:pt x="0" y="956545"/>
                      <a:pt x="0" y="928514"/>
                    </a:cubicBezTo>
                    <a:lnTo>
                      <a:pt x="0" y="105683"/>
                    </a:lnTo>
                    <a:cubicBezTo>
                      <a:pt x="0" y="77652"/>
                      <a:pt x="16256" y="50752"/>
                      <a:pt x="45212" y="30991"/>
                    </a:cubicBezTo>
                    <a:cubicBezTo>
                      <a:pt x="74168" y="11230"/>
                      <a:pt x="113284" y="0"/>
                      <a:pt x="154178" y="0"/>
                    </a:cubicBezTo>
                    <a:close/>
                  </a:path>
                </a:pathLst>
              </a:custGeom>
              <a:solidFill>
                <a:srgbClr val="F4B51E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41555"/>
              <a:ext cx="10168883" cy="1025614"/>
              <a:chOff x="0" y="0"/>
              <a:chExt cx="10168883" cy="102561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168882" cy="1025614"/>
              </a:xfrm>
              <a:custGeom>
                <a:avLst/>
                <a:gdLst/>
                <a:ahLst/>
                <a:cxnLst/>
                <a:rect l="l" t="t" r="r" b="b"/>
                <a:pathLst>
                  <a:path w="10168882" h="1025614">
                    <a:moveTo>
                      <a:pt x="0" y="0"/>
                    </a:moveTo>
                    <a:lnTo>
                      <a:pt x="10168882" y="0"/>
                    </a:lnTo>
                    <a:lnTo>
                      <a:pt x="10168882" y="1025614"/>
                    </a:lnTo>
                    <a:lnTo>
                      <a:pt x="0" y="10256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238125"/>
                <a:ext cx="10168883" cy="78748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49"/>
                  </a:lnSpc>
                </a:pPr>
                <a:r>
                  <a:rPr lang="en-US" sz="3499" b="1" spc="-6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TUJUAN</a:t>
                </a:r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9632638" y="4276833"/>
            <a:ext cx="7626662" cy="3333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565" lvl="2" indent="-191522" algn="just">
              <a:lnSpc>
                <a:spcPts val="3769"/>
              </a:lnSpc>
              <a:buFont typeface="Arial"/>
              <a:buChar char="⚬"/>
            </a:pP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Hasil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diharapkan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memberikan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kontribusi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berupa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pemahaman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mengenai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penerapan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Ensemble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penyakit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diabetes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melitus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sekaligus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menjadi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landasan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bagi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selanjutnya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topik</a:t>
            </a:r>
            <a:r>
              <a:rPr lang="en-US" sz="251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512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sama</a:t>
            </a:r>
            <a:endParaRPr lang="en-US" sz="251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9813653" y="3209372"/>
            <a:ext cx="7664762" cy="800377"/>
            <a:chOff x="0" y="0"/>
            <a:chExt cx="10219683" cy="1067169"/>
          </a:xfrm>
        </p:grpSpPr>
        <p:grpSp>
          <p:nvGrpSpPr>
            <p:cNvPr id="17" name="Group 17"/>
            <p:cNvGrpSpPr/>
            <p:nvPr/>
          </p:nvGrpSpPr>
          <p:grpSpPr>
            <a:xfrm>
              <a:off x="50800" y="0"/>
              <a:ext cx="10168883" cy="1034174"/>
              <a:chOff x="0" y="0"/>
              <a:chExt cx="10168883" cy="103417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168890" cy="1034208"/>
              </a:xfrm>
              <a:custGeom>
                <a:avLst/>
                <a:gdLst/>
                <a:ahLst/>
                <a:cxnLst/>
                <a:rect l="l" t="t" r="r" b="b"/>
                <a:pathLst>
                  <a:path w="10168890" h="1034208">
                    <a:moveTo>
                      <a:pt x="154178" y="0"/>
                    </a:moveTo>
                    <a:lnTo>
                      <a:pt x="10014712" y="0"/>
                    </a:lnTo>
                    <a:cubicBezTo>
                      <a:pt x="10055606" y="0"/>
                      <a:pt x="10094849" y="11143"/>
                      <a:pt x="10123678" y="30991"/>
                    </a:cubicBezTo>
                    <a:cubicBezTo>
                      <a:pt x="10152507" y="50839"/>
                      <a:pt x="10168890" y="77652"/>
                      <a:pt x="10168890" y="105683"/>
                    </a:cubicBezTo>
                    <a:lnTo>
                      <a:pt x="10168890" y="928514"/>
                    </a:lnTo>
                    <a:cubicBezTo>
                      <a:pt x="10168890" y="986840"/>
                      <a:pt x="10099929" y="1034208"/>
                      <a:pt x="10014712" y="1034208"/>
                    </a:cubicBezTo>
                    <a:lnTo>
                      <a:pt x="154178" y="1034208"/>
                    </a:lnTo>
                    <a:cubicBezTo>
                      <a:pt x="113284" y="1034208"/>
                      <a:pt x="74041" y="1023054"/>
                      <a:pt x="45212" y="1003206"/>
                    </a:cubicBezTo>
                    <a:cubicBezTo>
                      <a:pt x="16383" y="983358"/>
                      <a:pt x="0" y="956545"/>
                      <a:pt x="0" y="928514"/>
                    </a:cubicBezTo>
                    <a:lnTo>
                      <a:pt x="0" y="105683"/>
                    </a:lnTo>
                    <a:cubicBezTo>
                      <a:pt x="0" y="77652"/>
                      <a:pt x="16256" y="50752"/>
                      <a:pt x="45212" y="30991"/>
                    </a:cubicBezTo>
                    <a:cubicBezTo>
                      <a:pt x="74168" y="11230"/>
                      <a:pt x="113284" y="0"/>
                      <a:pt x="154178" y="0"/>
                    </a:cubicBezTo>
                    <a:close/>
                  </a:path>
                </a:pathLst>
              </a:custGeom>
              <a:solidFill>
                <a:srgbClr val="F4B51E"/>
              </a:solidFill>
              <a:ln w="12700">
                <a:solidFill>
                  <a:srgbClr val="000000"/>
                </a:solidFill>
              </a:ln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41555"/>
              <a:ext cx="10168883" cy="1025614"/>
              <a:chOff x="0" y="0"/>
              <a:chExt cx="10168883" cy="102561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168882" cy="1025614"/>
              </a:xfrm>
              <a:custGeom>
                <a:avLst/>
                <a:gdLst/>
                <a:ahLst/>
                <a:cxnLst/>
                <a:rect l="l" t="t" r="r" b="b"/>
                <a:pathLst>
                  <a:path w="10168882" h="1025614">
                    <a:moveTo>
                      <a:pt x="0" y="0"/>
                    </a:moveTo>
                    <a:lnTo>
                      <a:pt x="10168882" y="0"/>
                    </a:lnTo>
                    <a:lnTo>
                      <a:pt x="10168882" y="1025614"/>
                    </a:lnTo>
                    <a:lnTo>
                      <a:pt x="0" y="102561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238125"/>
                <a:ext cx="10168883" cy="78748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749"/>
                  </a:lnSpc>
                </a:pPr>
                <a:r>
                  <a:rPr lang="en-US" sz="3499" b="1" spc="-69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MANFAAT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818722"/>
            <a:ext cx="768748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BATASAN MASALAH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SIDANG SKRIPSI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274989" y="7466692"/>
            <a:ext cx="6417700" cy="3583216"/>
            <a:chOff x="0" y="0"/>
            <a:chExt cx="8556933" cy="4777621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8556879" cy="4777613"/>
            </a:xfrm>
            <a:custGeom>
              <a:avLst/>
              <a:gdLst/>
              <a:ahLst/>
              <a:cxnLst/>
              <a:rect l="l" t="t" r="r" b="b"/>
              <a:pathLst>
                <a:path w="8556879" h="4777613">
                  <a:moveTo>
                    <a:pt x="0" y="4777613"/>
                  </a:moveTo>
                  <a:lnTo>
                    <a:pt x="8556879" y="4777613"/>
                  </a:lnTo>
                  <a:lnTo>
                    <a:pt x="8556879" y="0"/>
                  </a:lnTo>
                  <a:lnTo>
                    <a:pt x="0" y="0"/>
                  </a:lnTo>
                  <a:lnTo>
                    <a:pt x="0" y="4777613"/>
                  </a:lnTo>
                  <a:close/>
                </a:path>
              </a:pathLst>
            </a:custGeom>
            <a:blipFill>
              <a:blip r:embed="rId3"/>
              <a:stretch>
                <a:fillRect l="-29" r="-29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57275" y="2999822"/>
            <a:ext cx="14455139" cy="5351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merupakan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sekunder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bersumber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Hospital Frankfurt, Germany, dan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telah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sebelumnya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Asfandyar Khan et al (2022)</a:t>
            </a:r>
          </a:p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Fitur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didalam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dataset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adalah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Glucose, Blood Pressure, pregnancies,  Skin Thickness, Insulin, BMI Diabetes Pedigree Function, Age.</a:t>
            </a:r>
          </a:p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Terdapat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kelas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yaitu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Positif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Diabetes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Melitus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Negatif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Diabetes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Melitus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639958" lvl="2" indent="-213319" algn="just">
              <a:lnSpc>
                <a:spcPts val="419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Stacking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dibatasi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4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algoritma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(KNN, LR, ANN, SVM) yang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sebagai</a:t>
            </a:r>
            <a:r>
              <a:rPr lang="en-US" sz="27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base learner dan meta-learner</a:t>
            </a:r>
          </a:p>
          <a:p>
            <a:pPr algn="just">
              <a:lnSpc>
                <a:spcPts val="4199"/>
              </a:lnSpc>
            </a:pPr>
            <a:endParaRPr lang="en-US" sz="2799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818722"/>
            <a:ext cx="768748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PENELITIAN TERKAIT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0050" y="3998016"/>
            <a:ext cx="5458565" cy="420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Klasifikasi</a:t>
            </a: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Diabetes dan </a:t>
            </a:r>
            <a:r>
              <a:rPr lang="en-US" sz="2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Cardivaskular</a:t>
            </a:r>
            <a:endParaRPr lang="en-US" sz="20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000"/>
              </a:lnSpc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Mengunakan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</a:t>
            </a:r>
          </a:p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Learner : KNN, Naive Bayes, Linear Discriminant Analysis, dan Decision Tree</a:t>
            </a:r>
          </a:p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Meta Learner : SVM</a:t>
            </a:r>
          </a:p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96.21% → Diabetes</a:t>
            </a:r>
          </a:p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88.71%, →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Cardiovaskular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00"/>
              </a:lnSpc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Mengunguli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evaluasi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00"/>
              </a:lnSpc>
            </a:pP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00"/>
              </a:lnSpc>
            </a:pP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00050" y="3209372"/>
            <a:ext cx="5458565" cy="687352"/>
            <a:chOff x="0" y="0"/>
            <a:chExt cx="7278087" cy="916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78116" cy="916502"/>
            </a:xfrm>
            <a:custGeom>
              <a:avLst/>
              <a:gdLst/>
              <a:ahLst/>
              <a:cxnLst/>
              <a:rect l="l" t="t" r="r" b="b"/>
              <a:pathLst>
                <a:path w="7278116" h="916502">
                  <a:moveTo>
                    <a:pt x="215392" y="0"/>
                  </a:moveTo>
                  <a:lnTo>
                    <a:pt x="7062724" y="0"/>
                  </a:lnTo>
                  <a:cubicBezTo>
                    <a:pt x="7119874" y="0"/>
                    <a:pt x="7174611" y="13809"/>
                    <a:pt x="7214997" y="38341"/>
                  </a:cubicBezTo>
                  <a:cubicBezTo>
                    <a:pt x="7255383" y="62874"/>
                    <a:pt x="7278116" y="96123"/>
                    <a:pt x="7278116" y="130839"/>
                  </a:cubicBezTo>
                  <a:lnTo>
                    <a:pt x="7278116" y="785650"/>
                  </a:lnTo>
                  <a:cubicBezTo>
                    <a:pt x="7278116" y="857936"/>
                    <a:pt x="7181723" y="916502"/>
                    <a:pt x="7062724" y="916502"/>
                  </a:cubicBezTo>
                  <a:lnTo>
                    <a:pt x="215392" y="916502"/>
                  </a:lnTo>
                  <a:cubicBezTo>
                    <a:pt x="158242" y="916502"/>
                    <a:pt x="103505" y="902680"/>
                    <a:pt x="63119" y="878148"/>
                  </a:cubicBezTo>
                  <a:cubicBezTo>
                    <a:pt x="22733" y="853615"/>
                    <a:pt x="0" y="820289"/>
                    <a:pt x="0" y="785650"/>
                  </a:cubicBezTo>
                  <a:lnTo>
                    <a:pt x="0" y="130839"/>
                  </a:lnTo>
                  <a:cubicBezTo>
                    <a:pt x="0" y="58553"/>
                    <a:pt x="96393" y="0"/>
                    <a:pt x="215392" y="0"/>
                  </a:cubicBez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0050" y="3299785"/>
            <a:ext cx="5458565" cy="565772"/>
            <a:chOff x="0" y="0"/>
            <a:chExt cx="7278087" cy="7543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78087" cy="754363"/>
            </a:xfrm>
            <a:custGeom>
              <a:avLst/>
              <a:gdLst/>
              <a:ahLst/>
              <a:cxnLst/>
              <a:rect l="l" t="t" r="r" b="b"/>
              <a:pathLst>
                <a:path w="7278087" h="754363">
                  <a:moveTo>
                    <a:pt x="0" y="0"/>
                  </a:moveTo>
                  <a:lnTo>
                    <a:pt x="7278087" y="0"/>
                  </a:lnTo>
                  <a:lnTo>
                    <a:pt x="7278087" y="754363"/>
                  </a:lnTo>
                  <a:lnTo>
                    <a:pt x="0" y="754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47625"/>
              <a:ext cx="7278087" cy="706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4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Asfandyar Khan dkk. 2022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55079" y="3183329"/>
            <a:ext cx="5458565" cy="713394"/>
            <a:chOff x="0" y="0"/>
            <a:chExt cx="7278087" cy="9511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78116" cy="951226"/>
            </a:xfrm>
            <a:custGeom>
              <a:avLst/>
              <a:gdLst/>
              <a:ahLst/>
              <a:cxnLst/>
              <a:rect l="l" t="t" r="r" b="b"/>
              <a:pathLst>
                <a:path w="7278116" h="951226">
                  <a:moveTo>
                    <a:pt x="215392" y="0"/>
                  </a:moveTo>
                  <a:lnTo>
                    <a:pt x="7062724" y="0"/>
                  </a:lnTo>
                  <a:cubicBezTo>
                    <a:pt x="7119874" y="0"/>
                    <a:pt x="7174611" y="14332"/>
                    <a:pt x="7214997" y="39794"/>
                  </a:cubicBezTo>
                  <a:cubicBezTo>
                    <a:pt x="7255383" y="65256"/>
                    <a:pt x="7278116" y="99765"/>
                    <a:pt x="7278116" y="135796"/>
                  </a:cubicBezTo>
                  <a:lnTo>
                    <a:pt x="7278116" y="815417"/>
                  </a:lnTo>
                  <a:cubicBezTo>
                    <a:pt x="7278116" y="890442"/>
                    <a:pt x="7181723" y="951226"/>
                    <a:pt x="7062724" y="951226"/>
                  </a:cubicBezTo>
                  <a:lnTo>
                    <a:pt x="215392" y="951226"/>
                  </a:lnTo>
                  <a:cubicBezTo>
                    <a:pt x="158242" y="951226"/>
                    <a:pt x="103505" y="936881"/>
                    <a:pt x="63119" y="911419"/>
                  </a:cubicBezTo>
                  <a:cubicBezTo>
                    <a:pt x="22733" y="885958"/>
                    <a:pt x="0" y="851368"/>
                    <a:pt x="0" y="815417"/>
                  </a:cubicBezTo>
                  <a:lnTo>
                    <a:pt x="0" y="135796"/>
                  </a:lnTo>
                  <a:cubicBezTo>
                    <a:pt x="0" y="60772"/>
                    <a:pt x="96393" y="0"/>
                    <a:pt x="215392" y="0"/>
                  </a:cubicBez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55079" y="3221859"/>
            <a:ext cx="5458565" cy="662377"/>
            <a:chOff x="0" y="0"/>
            <a:chExt cx="7278087" cy="8831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78087" cy="883169"/>
            </a:xfrm>
            <a:custGeom>
              <a:avLst/>
              <a:gdLst/>
              <a:ahLst/>
              <a:cxnLst/>
              <a:rect l="l" t="t" r="r" b="b"/>
              <a:pathLst>
                <a:path w="7278087" h="883169">
                  <a:moveTo>
                    <a:pt x="0" y="0"/>
                  </a:moveTo>
                  <a:lnTo>
                    <a:pt x="7278087" y="0"/>
                  </a:lnTo>
                  <a:lnTo>
                    <a:pt x="7278087" y="883169"/>
                  </a:lnTo>
                  <a:lnTo>
                    <a:pt x="0" y="8831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7278087" cy="8355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4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Md Abdur Rahim dkk. 2023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49867" y="3209372"/>
            <a:ext cx="5458565" cy="687352"/>
            <a:chOff x="0" y="0"/>
            <a:chExt cx="7278087" cy="91646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78116" cy="916502"/>
            </a:xfrm>
            <a:custGeom>
              <a:avLst/>
              <a:gdLst/>
              <a:ahLst/>
              <a:cxnLst/>
              <a:rect l="l" t="t" r="r" b="b"/>
              <a:pathLst>
                <a:path w="7278116" h="916502">
                  <a:moveTo>
                    <a:pt x="215392" y="0"/>
                  </a:moveTo>
                  <a:lnTo>
                    <a:pt x="7062724" y="0"/>
                  </a:lnTo>
                  <a:cubicBezTo>
                    <a:pt x="7119874" y="0"/>
                    <a:pt x="7174611" y="13809"/>
                    <a:pt x="7214997" y="38341"/>
                  </a:cubicBezTo>
                  <a:cubicBezTo>
                    <a:pt x="7255383" y="62874"/>
                    <a:pt x="7278116" y="96123"/>
                    <a:pt x="7278116" y="130839"/>
                  </a:cubicBezTo>
                  <a:lnTo>
                    <a:pt x="7278116" y="785650"/>
                  </a:lnTo>
                  <a:cubicBezTo>
                    <a:pt x="7278116" y="857936"/>
                    <a:pt x="7181723" y="916502"/>
                    <a:pt x="7062724" y="916502"/>
                  </a:cubicBezTo>
                  <a:lnTo>
                    <a:pt x="215392" y="916502"/>
                  </a:lnTo>
                  <a:cubicBezTo>
                    <a:pt x="158242" y="916502"/>
                    <a:pt x="103505" y="902680"/>
                    <a:pt x="63119" y="878148"/>
                  </a:cubicBezTo>
                  <a:cubicBezTo>
                    <a:pt x="22733" y="853615"/>
                    <a:pt x="0" y="820289"/>
                    <a:pt x="0" y="785650"/>
                  </a:cubicBezTo>
                  <a:lnTo>
                    <a:pt x="0" y="130839"/>
                  </a:lnTo>
                  <a:cubicBezTo>
                    <a:pt x="0" y="58553"/>
                    <a:pt x="96393" y="0"/>
                    <a:pt x="215392" y="0"/>
                  </a:cubicBez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49867" y="3308351"/>
            <a:ext cx="5458565" cy="548640"/>
            <a:chOff x="0" y="0"/>
            <a:chExt cx="7278087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78087" cy="731520"/>
            </a:xfrm>
            <a:custGeom>
              <a:avLst/>
              <a:gdLst/>
              <a:ahLst/>
              <a:cxnLst/>
              <a:rect l="l" t="t" r="r" b="b"/>
              <a:pathLst>
                <a:path w="7278087" h="731520">
                  <a:moveTo>
                    <a:pt x="0" y="0"/>
                  </a:moveTo>
                  <a:lnTo>
                    <a:pt x="7278087" y="0"/>
                  </a:lnTo>
                  <a:lnTo>
                    <a:pt x="7278087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7278087" cy="683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4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 Kadek  dkk., 2025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355079" y="3998016"/>
            <a:ext cx="5458565" cy="343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Klasifikasi</a:t>
            </a: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Diabetes </a:t>
            </a:r>
          </a:p>
          <a:p>
            <a:pPr algn="just">
              <a:lnSpc>
                <a:spcPts val="3000"/>
              </a:lnSpc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Mengunakan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</a:t>
            </a:r>
          </a:p>
          <a:p>
            <a:pPr algn="just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Learner : KNN, SVM, Naive Bayes, dan Random Forest</a:t>
            </a:r>
          </a:p>
          <a:p>
            <a:pPr algn="just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Meta Learner : LR</a:t>
            </a:r>
          </a:p>
          <a:p>
            <a:pPr algn="just">
              <a:lnSpc>
                <a:spcPts val="3000"/>
              </a:lnSpc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Menghasilkan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Akurasi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94.17%,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tinggi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metode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00"/>
              </a:lnSpc>
            </a:pP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00"/>
              </a:lnSpc>
            </a:pPr>
            <a:endParaRPr lang="en-US"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349867" y="3998016"/>
            <a:ext cx="5458565" cy="343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Klasifikasi Deman Berdarah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Mengunakan metode Stacking 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Learner : learner KNN, Naive Bayes, C4.5 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Meta Learner : LR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Menghasilkan Akurasi 84,15%%, lebih tinggi dari metode tunggal yang digunakan</a:t>
            </a: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400050" y="8569991"/>
            <a:ext cx="5077400" cy="583544"/>
            <a:chOff x="0" y="0"/>
            <a:chExt cx="6769866" cy="77805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69895" cy="778091"/>
            </a:xfrm>
            <a:custGeom>
              <a:avLst/>
              <a:gdLst/>
              <a:ahLst/>
              <a:cxnLst/>
              <a:rect l="l" t="t" r="r" b="b"/>
              <a:pathLst>
                <a:path w="6769895" h="778091">
                  <a:moveTo>
                    <a:pt x="200351" y="0"/>
                  </a:moveTo>
                  <a:lnTo>
                    <a:pt x="6569542" y="0"/>
                  </a:lnTo>
                  <a:cubicBezTo>
                    <a:pt x="6622701" y="0"/>
                    <a:pt x="6673616" y="11724"/>
                    <a:pt x="6711182" y="32551"/>
                  </a:cubicBezTo>
                  <a:cubicBezTo>
                    <a:pt x="6748748" y="53378"/>
                    <a:pt x="6769895" y="81606"/>
                    <a:pt x="6769895" y="111079"/>
                  </a:cubicBezTo>
                  <a:lnTo>
                    <a:pt x="6769895" y="666997"/>
                  </a:lnTo>
                  <a:cubicBezTo>
                    <a:pt x="6769895" y="728365"/>
                    <a:pt x="6680231" y="778091"/>
                    <a:pt x="6569542" y="778091"/>
                  </a:cubicBezTo>
                  <a:lnTo>
                    <a:pt x="200351" y="778091"/>
                  </a:lnTo>
                  <a:cubicBezTo>
                    <a:pt x="147192" y="778091"/>
                    <a:pt x="96277" y="766352"/>
                    <a:pt x="58711" y="745525"/>
                  </a:cubicBezTo>
                  <a:cubicBezTo>
                    <a:pt x="21146" y="724697"/>
                    <a:pt x="0" y="696404"/>
                    <a:pt x="0" y="666997"/>
                  </a:cubicBezTo>
                  <a:lnTo>
                    <a:pt x="0" y="111079"/>
                  </a:lnTo>
                  <a:cubicBezTo>
                    <a:pt x="0" y="49710"/>
                    <a:pt x="89662" y="0"/>
                    <a:pt x="200351" y="0"/>
                  </a:cubicBez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09467" y="8569991"/>
            <a:ext cx="5458565" cy="583544"/>
            <a:chOff x="0" y="0"/>
            <a:chExt cx="7278087" cy="77805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78087" cy="778058"/>
            </a:xfrm>
            <a:custGeom>
              <a:avLst/>
              <a:gdLst/>
              <a:ahLst/>
              <a:cxnLst/>
              <a:rect l="l" t="t" r="r" b="b"/>
              <a:pathLst>
                <a:path w="7278087" h="778058">
                  <a:moveTo>
                    <a:pt x="0" y="0"/>
                  </a:moveTo>
                  <a:lnTo>
                    <a:pt x="7278087" y="0"/>
                  </a:lnTo>
                  <a:lnTo>
                    <a:pt x="7278087" y="778058"/>
                  </a:lnTo>
                  <a:lnTo>
                    <a:pt x="0" y="7780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D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47625"/>
              <a:ext cx="7278087" cy="730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9"/>
                </a:lnSpc>
              </a:pPr>
              <a:r>
                <a:rPr lang="en-US" sz="2499" b="1" spc="-4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Budi </a:t>
              </a:r>
              <a:r>
                <a:rPr lang="en-US" sz="2499" b="1" spc="-49" dirty="0" err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Sumarko</a:t>
              </a:r>
              <a:r>
                <a:rPr lang="en-US" sz="2499" b="1" spc="-4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2499" b="1" spc="-49" dirty="0" err="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dkk</a:t>
              </a:r>
              <a:r>
                <a:rPr lang="en-US" sz="2499" b="1" spc="-4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. 2023 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68032" y="8017541"/>
            <a:ext cx="9969983" cy="22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Klasifikasi Efek Kesehatan Akibat Pencemaran Udara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 Metode Stacking Ensemble dengan kombinasi LR, DT, KNN, SVM dan MLP dan menghaislkan akurasi sebesar  99.9%, lebih unggul dibandngkan metode tunggal yang digunakan </a:t>
            </a: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0600" y="1914017"/>
            <a:ext cx="3995553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55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Arsitektur</a:t>
            </a:r>
            <a:r>
              <a:rPr lang="en-US" sz="55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599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Sistem</a:t>
            </a:r>
            <a:endParaRPr lang="en-US" sz="55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BEEFC9C-2B88-AD0C-75B3-82F5EAD4B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544400"/>
            <a:ext cx="7524750" cy="9198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2379697"/>
            <a:ext cx="3314700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2362715-5440-8899-9B26-C99D198C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20" y="3390900"/>
            <a:ext cx="11158404" cy="4191000"/>
          </a:xfrm>
          <a:prstGeom prst="rect">
            <a:avLst/>
          </a:prstGeom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3722C9BE-5BA0-BFC7-433C-898FD0DCC99B}"/>
              </a:ext>
            </a:extLst>
          </p:cNvPr>
          <p:cNvSpPr txBox="1"/>
          <p:nvPr/>
        </p:nvSpPr>
        <p:spPr>
          <a:xfrm>
            <a:off x="12438897" y="3238907"/>
            <a:ext cx="4409436" cy="44480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456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Jumlah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baris pada dataset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Adalah 2000 data, </a:t>
            </a:r>
            <a:r>
              <a:rPr lang="en-US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terdapat</a:t>
            </a: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1316 data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kelas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negative (0) dan 684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kelas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positif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(1).</a:t>
            </a:r>
          </a:p>
          <a:p>
            <a:pPr marL="342900" indent="-342900" algn="just">
              <a:lnSpc>
                <a:spcPts val="3456"/>
              </a:lnSpc>
              <a:buFont typeface="Arial" panose="020B0604020202020204" pitchFamily="34" charset="0"/>
              <a:buChar char="•"/>
            </a:pP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bersifat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public dan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tersedia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 platform Kaggle dan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pernah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penelitian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oleh Asfandyar Khan et al (</a:t>
            </a:r>
            <a:r>
              <a:rPr lang="en-ID" sz="20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terakreditasi</a:t>
            </a:r>
            <a:r>
              <a:rPr lang="en-ID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/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09715" y="2113247"/>
            <a:ext cx="5749585" cy="65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40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 UJI COBA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90600" y="2151347"/>
          <a:ext cx="10065764" cy="7410447"/>
        </p:xfrm>
        <a:graphic>
          <a:graphicData uri="http://schemas.openxmlformats.org/drawingml/2006/table">
            <a:tbl>
              <a:tblPr/>
              <a:tblGrid>
                <a:gridCol w="1426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3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9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Skenario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Base Learner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Meta Learner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K-Nearest Neighbors (KNN)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 (LR)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Neural Network (ANN)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 Vector Machine (SVM)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Stacking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 LR, ANN,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Stacking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 LR, ANN,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Stacking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 LR, ANN,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Stacking Ensemble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KNN, LR, ANN,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1478264" y="2961703"/>
            <a:ext cx="5781036" cy="357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Pada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setiap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skenario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pengujian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 (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baik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tunggal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maupun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Stacking Ensemble)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disertai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proses hyperparameter tuning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GridSearchCV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rician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hyperparameter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dapat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dilihat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tabel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3.5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EBAA-F0E0-2C28-E507-FDE5FBCF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A8B6D3-A574-8397-B928-69AC99E59C98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47C192-A6EB-FCE4-4BFA-48A754663EFF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9F53B81B-9459-2F5F-16F5-BBF141860C68}"/>
              </a:ext>
            </a:extLst>
          </p:cNvPr>
          <p:cNvSpPr txBox="1"/>
          <p:nvPr/>
        </p:nvSpPr>
        <p:spPr>
          <a:xfrm>
            <a:off x="1028700" y="1818722"/>
            <a:ext cx="10401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Prepocessing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–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Imputasi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Missing Value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97519F3-6DEA-066C-E607-9C62EF76F521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83A4D9C-680F-F4E5-BB2B-946954D364A0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EDFC64C-02EE-1342-B8E0-8BD8233BF7B5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082BFD0-4AF7-8437-B912-278700C26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1" y="3213901"/>
            <a:ext cx="7963112" cy="2990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31C0A1-A2EA-719E-DB14-C253301D0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3218272"/>
            <a:ext cx="3792882" cy="31929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180684-B82E-4802-0F06-5AEB11CF4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868" y="6617362"/>
            <a:ext cx="7746739" cy="29908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6FAA6B-6135-9CDC-7F7E-71D4842D8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6650465"/>
            <a:ext cx="3021305" cy="2957773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B033BB43-2DDC-EF2B-377E-BC07C721B86C}"/>
              </a:ext>
            </a:extLst>
          </p:cNvPr>
          <p:cNvSpPr txBox="1"/>
          <p:nvPr/>
        </p:nvSpPr>
        <p:spPr>
          <a:xfrm>
            <a:off x="13335001" y="4498161"/>
            <a:ext cx="1905000" cy="586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2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Sebelum</a:t>
            </a:r>
            <a:endParaRPr lang="en-US" sz="3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5D68DAC3-9294-407D-B786-10CA0C3426E7}"/>
              </a:ext>
            </a:extLst>
          </p:cNvPr>
          <p:cNvSpPr txBox="1"/>
          <p:nvPr/>
        </p:nvSpPr>
        <p:spPr>
          <a:xfrm>
            <a:off x="13335001" y="7526614"/>
            <a:ext cx="1904999" cy="586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2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Sesudah</a:t>
            </a:r>
            <a:endParaRPr lang="en-US" sz="3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54943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F219-49CC-437A-E99E-4E9477BB6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1C7EB0-3F08-002A-E00D-1B09C963F664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3F0EBA-449D-667A-0131-61538350D35A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D7C27A19-372F-52B7-90A0-71D5BDBFA626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Prepocessing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–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Normalisasi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DDED556-2050-5CDE-2FF0-3B8C50DC59C6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6B2C180-3466-04F5-3DDA-BADBF8A20D11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D509306-5100-8A9C-3094-7CFAD47405CD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9DA61954-ED29-DE24-AAE9-69EB11E01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917284"/>
            <a:ext cx="7658100" cy="2917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1A98E-5F69-A4E2-4CFC-0BE86DFC1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6032318"/>
            <a:ext cx="8881152" cy="3370762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CDD56DC9-A2A8-85DE-74C8-1A5682859238}"/>
              </a:ext>
            </a:extLst>
          </p:cNvPr>
          <p:cNvSpPr txBox="1"/>
          <p:nvPr/>
        </p:nvSpPr>
        <p:spPr>
          <a:xfrm>
            <a:off x="8943607" y="3961589"/>
            <a:ext cx="1905000" cy="586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2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Sebelum</a:t>
            </a:r>
            <a:endParaRPr lang="en-US" sz="3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042CB2B-F723-6DDA-F299-7A5F79CCE30C}"/>
              </a:ext>
            </a:extLst>
          </p:cNvPr>
          <p:cNvSpPr txBox="1"/>
          <p:nvPr/>
        </p:nvSpPr>
        <p:spPr>
          <a:xfrm>
            <a:off x="6553200" y="7277100"/>
            <a:ext cx="1905000" cy="586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32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Sesudah</a:t>
            </a:r>
            <a:endParaRPr lang="en-US" sz="32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585863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36FE5-4867-58E6-9552-C33CEB6F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F63EE8-51B8-EFB4-89D0-615E57E8FF8C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B83A36-DA9A-F5FE-944D-F722E237BFA9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41BA899-A3E4-E3A8-5050-B6FB387A65CC}"/>
              </a:ext>
            </a:extLst>
          </p:cNvPr>
          <p:cNvSpPr txBox="1"/>
          <p:nvPr/>
        </p:nvSpPr>
        <p:spPr>
          <a:xfrm>
            <a:off x="1028700" y="1818722"/>
            <a:ext cx="16497300" cy="1647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Prepocessing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–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Pembagian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 dan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Penyeimbangan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Latih</a:t>
            </a:r>
            <a:endParaRPr lang="en-US" sz="40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33EAF7-FCA0-61B6-6A07-9CFDEE95FD1C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B4911DB-C4FE-47CD-3806-C34CD2D5357A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EEABF12-4D9F-934E-5199-86D3A3C18FE7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1B94FAA-A89C-C21D-83B6-AE6A06BB9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70" y="4443210"/>
            <a:ext cx="10234515" cy="40019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AC6AF1-56D4-D670-2934-6451787B0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738" y="4443210"/>
            <a:ext cx="6175557" cy="379117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D52C395F-A46B-EBC1-23D4-348228C5B37A}"/>
              </a:ext>
            </a:extLst>
          </p:cNvPr>
          <p:cNvSpPr/>
          <p:nvPr/>
        </p:nvSpPr>
        <p:spPr>
          <a:xfrm>
            <a:off x="10890780" y="6096480"/>
            <a:ext cx="840663" cy="3045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8302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CF20-EFBE-2B46-6BE3-664229B4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157BBB-BB48-B524-C0B5-EB2760296DB7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E96F99A-CBCA-4082-9EEB-5A6EADCB6A2B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C8323D7-B151-0EA4-AB05-ECF1684CADA6}"/>
              </a:ext>
            </a:extLst>
          </p:cNvPr>
          <p:cNvSpPr txBox="1"/>
          <p:nvPr/>
        </p:nvSpPr>
        <p:spPr>
          <a:xfrm>
            <a:off x="3647707" y="4749482"/>
            <a:ext cx="105918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Skema Metode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Tuggal</a:t>
            </a:r>
            <a:endParaRPr lang="en-US" sz="4000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397A199-6027-C770-B550-870373D74285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51260C2-8782-CB6F-A59C-3E4DB8D0EA23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EF39D1F-D1DB-A136-5C36-8DDBBFE1C4E1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47449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164D-FF5C-1CCC-13C6-F058C954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6026F2-2416-A31F-2F32-6E9B9F850451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9D8A0AF-B023-82C8-FFDD-706C0459A259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368A3A5-B3A6-ADDB-08C9-060D07D79F92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1  –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Knearest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Neighbor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7833CF-70B1-DBF2-6594-610E864ED776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339FFF-3D55-162D-09F0-69A79BD3EAAF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1CAA154-4FBC-2915-F740-3AE7242E49F4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9EA27-DD50-B279-A4B2-E956AE672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143235"/>
            <a:ext cx="7697274" cy="2000529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D465EB13-C094-2B11-4EA2-CD644ABF65AA}"/>
              </a:ext>
            </a:extLst>
          </p:cNvPr>
          <p:cNvSpPr txBox="1"/>
          <p:nvPr/>
        </p:nvSpPr>
        <p:spPr>
          <a:xfrm>
            <a:off x="1028700" y="3400009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CEBDD0-8A39-E3A1-E9C7-7C0B5B0E6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188381"/>
            <a:ext cx="5868219" cy="56491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E34BB75-D48A-AAF8-90AD-2C1B51791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8209027"/>
            <a:ext cx="7573432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00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1A82-622A-0689-E70D-77F5DE66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FB3461-6036-9E86-8CDC-E80350EB32CE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4E3033-04C6-0680-8E8D-DBD08B6576A8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FC8559A-735A-F1ED-40ED-7E50E2AC5267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3  – Logistic Regression (LR)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D7392F-81CD-EC8F-59C2-021803271BF4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F8AF5B-8FDB-7346-8ADD-C9E23E049515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9E17BCB-F62D-70EE-0496-39E8907CD903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777994F-2150-C9D0-EDB8-602FCAACB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22" y="5524500"/>
            <a:ext cx="7773485" cy="2048161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02EECFB6-0350-86A0-5AB3-2457815DD174}"/>
              </a:ext>
            </a:extLst>
          </p:cNvPr>
          <p:cNvSpPr txBox="1"/>
          <p:nvPr/>
        </p:nvSpPr>
        <p:spPr>
          <a:xfrm>
            <a:off x="1178866" y="4962851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66699D-8211-CCD8-D8A8-025396003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463" y="8991324"/>
            <a:ext cx="7611537" cy="857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786965-EF0E-1E3C-8955-758F1B972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719" y="2960195"/>
            <a:ext cx="565864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155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F86F9-38AC-594E-00BB-9A347F65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B41578-E980-EBC6-8C17-043147B80AE9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948D14-C04B-5796-E8AA-1060C28A37D0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B596E36C-B300-2FCA-4EAD-D8BAB94C0061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3  – Support Vector Machine (SVM)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6CD657E-74F5-0C8A-90CD-888E365DD3D1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76CFAB7-DD21-7870-6858-B40EA4DF95FE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5D4A20A-21FE-0746-3D19-BD0FD2AC1615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C0F4D38-075E-BC07-F17C-A46C2CBAC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2947888"/>
            <a:ext cx="5696745" cy="5715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A520F8-40C8-7EAF-6C07-87E33671D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786469"/>
            <a:ext cx="7716327" cy="2038635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8D4A9D89-D354-F432-D8A1-95D077A26D19}"/>
              </a:ext>
            </a:extLst>
          </p:cNvPr>
          <p:cNvSpPr txBox="1"/>
          <p:nvPr/>
        </p:nvSpPr>
        <p:spPr>
          <a:xfrm>
            <a:off x="1028700" y="4229009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ABDDE0-3ED9-F05D-42E7-938CC4FEB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495" y="8854212"/>
            <a:ext cx="7602011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8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D8960-810D-82F5-96AA-69BEB228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6CABE3-2065-DD7D-1D82-211458777F26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EE58E6-6D15-BFB4-1961-1BA10BB5C01A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1871BA0-9D66-0C88-75BD-6E9A81C400B4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4  – Artificial Neural Network (ANN)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B18051E-3923-0AD8-E25C-AA974884BFAE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A7E7E1F-7550-FD4E-3F45-4E5DAA255453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B01CB1B-22D1-1B08-CABA-572D278FC4FC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0" name="TextBox 6">
            <a:extLst>
              <a:ext uri="{FF2B5EF4-FFF2-40B4-BE49-F238E27FC236}">
                <a16:creationId xmlns:a16="http://schemas.microsoft.com/office/drawing/2014/main" id="{5C3C5A0E-0CCD-70AF-0529-8081FD32223B}"/>
              </a:ext>
            </a:extLst>
          </p:cNvPr>
          <p:cNvSpPr txBox="1"/>
          <p:nvPr/>
        </p:nvSpPr>
        <p:spPr>
          <a:xfrm>
            <a:off x="1123226" y="3467100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759A82-0124-4E21-ED79-327384178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343" y="3172120"/>
            <a:ext cx="5763429" cy="56681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388DDD-DDF5-97C2-95E9-4EAA5D395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50" y="8986489"/>
            <a:ext cx="7563906" cy="8383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85FE10-0B9D-E82C-B6BD-F5BA6513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279" y="4229100"/>
            <a:ext cx="7687748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43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C713-4F82-4E25-16C9-327A7165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6F63D2-9493-C1BB-87C1-6B685CA02849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7C2C72D-9738-F2C8-3996-BE4EF9961877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7CF92A75-AC80-A594-38A3-B920460EEE95}"/>
              </a:ext>
            </a:extLst>
          </p:cNvPr>
          <p:cNvSpPr txBox="1"/>
          <p:nvPr/>
        </p:nvSpPr>
        <p:spPr>
          <a:xfrm>
            <a:off x="3647706" y="4749482"/>
            <a:ext cx="11058893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Skema Metode Stacking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4B28F16-4257-7D71-11EC-3BC414DF14EE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FB13C2A-AA7E-8471-B004-193835979361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284BB3B-BC9A-8BF2-4B89-D73B911CCE3C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690310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25328-C80E-B3E4-D322-0ABF585F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848729-7B1E-437E-AA0E-58E33F18D6FA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8ED6FC9-9F9C-A205-6468-C5F1A6BF0F54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4B55985-A4B5-5426-FB36-DC519645BA67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5  – Stacking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dengan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KNN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sebagai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Meta Classifier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2D3A98D-A188-2ECA-0633-1DFF16C91819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F9415D7-74C5-803C-E4F1-E8E0B2F26FB5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7D73C32-C402-BC93-F88D-7F11B5575BF4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F8374F2-BED2-3802-87E0-B2F4CA568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305300"/>
            <a:ext cx="7640116" cy="2105319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DC9D2F54-2136-96E7-BBF9-341A683ED6B8}"/>
              </a:ext>
            </a:extLst>
          </p:cNvPr>
          <p:cNvSpPr txBox="1"/>
          <p:nvPr/>
        </p:nvSpPr>
        <p:spPr>
          <a:xfrm>
            <a:off x="1123226" y="3467100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ADC0A9-4D7C-1BD4-167B-E8FEDF97D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3183987"/>
            <a:ext cx="5839640" cy="5725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99D574-EF22-E911-6181-7FFB59B96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816" y="8909311"/>
            <a:ext cx="7611537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83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1379-3DA0-5E8D-20C6-DD831AF3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41D2109-F6E4-91EF-6E08-15DDD94A7CF6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4DF7F0-3EF1-12B1-01F9-CB62DC01B5A8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732BCAE6-02C0-A9C2-811A-FD2A76541738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6  – Stacking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dengan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LR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sebagai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Meta Classifier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A28597C-B392-32A2-9648-1D38E8EC83CC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7562FDF-1EF6-1F52-8D52-3ECC6E321D24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F2CAC2-086C-DE50-1DF3-1B12A9544977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" name="TextBox 6">
            <a:extLst>
              <a:ext uri="{FF2B5EF4-FFF2-40B4-BE49-F238E27FC236}">
                <a16:creationId xmlns:a16="http://schemas.microsoft.com/office/drawing/2014/main" id="{E998D659-14C9-E8B8-579F-56A884F15774}"/>
              </a:ext>
            </a:extLst>
          </p:cNvPr>
          <p:cNvSpPr txBox="1"/>
          <p:nvPr/>
        </p:nvSpPr>
        <p:spPr>
          <a:xfrm>
            <a:off x="1123226" y="3467100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8B1527-45E5-380D-3C81-EED35E663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810" y="4060874"/>
            <a:ext cx="8119073" cy="2201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BB979E-3EED-12C6-2AA5-45D8D2A99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3467100"/>
            <a:ext cx="5763429" cy="5734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B31F79-4192-1471-6BC7-7894D5743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385" y="8191500"/>
            <a:ext cx="8644087" cy="97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44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1990-E8DB-AD67-E676-90323152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6B83FC2-854C-0D16-1890-FFD9F9146CE7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78A189-5125-92C0-B9BB-3207F47687E2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756FE689-6215-F920-08C2-99D8C979DA65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7  – Stacking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dengan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SVM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sebagai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Meta Classifier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7CAE65E-CFFA-1A2E-D891-CC8B804924FF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8448D1C-096F-CA86-68D3-8FAC21980EA0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0349BE1-DE11-EF2B-A19D-97AF8580E86B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DBD9ED5-F827-4E8B-84D2-C2AC8D241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117676"/>
            <a:ext cx="9629345" cy="2551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997252-0048-AE5A-836B-673066A45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413033"/>
            <a:ext cx="8812821" cy="990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54DBDD-B2CA-4A1D-18E9-0DCD4B33D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8710" y="3848100"/>
            <a:ext cx="5801535" cy="5658640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A4E670A-F85F-D08E-D7F3-E3DA21F04FE2}"/>
              </a:ext>
            </a:extLst>
          </p:cNvPr>
          <p:cNvSpPr txBox="1"/>
          <p:nvPr/>
        </p:nvSpPr>
        <p:spPr>
          <a:xfrm>
            <a:off x="1028700" y="3280022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</p:spTree>
    <p:extLst>
      <p:ext uri="{BB962C8B-B14F-4D97-AF65-F5344CB8AC3E}">
        <p14:creationId xmlns:p14="http://schemas.microsoft.com/office/powerpoint/2010/main" val="3173453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EAE2-F159-1547-CD9F-77D06E82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3CFE21-6B7D-74CF-45EA-1BD85507A3C5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17F1E9-E789-70B9-E68B-2B1A11DFC876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60A0A41-C984-F5FF-EBD2-0F3F98940468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Uji 8  – Stacking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dengan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ANN </a:t>
            </a:r>
            <a:r>
              <a:rPr lang="en-US" sz="4000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sebagai</a:t>
            </a: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Meta Classifier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D4AF675-2A95-2CCA-6021-CF1927198944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FD1794D-8F7B-BBCF-E5EB-2E980E7BC1F9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E9E29D1-BAE9-4AAB-D2B5-E41A32725D43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DFD0287-1E13-CB65-CF2A-95F95CFD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45" y="4152900"/>
            <a:ext cx="8035635" cy="3048000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F86F976B-B16A-0B88-2B78-F95453534258}"/>
              </a:ext>
            </a:extLst>
          </p:cNvPr>
          <p:cNvSpPr txBox="1"/>
          <p:nvPr/>
        </p:nvSpPr>
        <p:spPr>
          <a:xfrm>
            <a:off x="1028700" y="3280022"/>
            <a:ext cx="9254552" cy="557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Hasil Hyperparameter Tuning (Grid Search)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1CF8CE-133E-4AED-CB9B-E6DF700A1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0114" y="3232013"/>
            <a:ext cx="5868219" cy="5772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2D4FD8-4997-4B27-A1CA-DD695B645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174" y="8468278"/>
            <a:ext cx="7964510" cy="9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3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E0C5-3C82-4070-2B42-BE91FCED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54F36B-08D2-1669-9203-97948D6CFC25}"/>
              </a:ext>
            </a:extLst>
          </p:cNvPr>
          <p:cNvGrpSpPr/>
          <p:nvPr/>
        </p:nvGrpSpPr>
        <p:grpSpPr>
          <a:xfrm>
            <a:off x="990600" y="1431997"/>
            <a:ext cx="873770" cy="76200"/>
            <a:chOff x="0" y="0"/>
            <a:chExt cx="1165027" cy="1016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D74A49-2B50-123D-4802-2E4D80EE2FAB}"/>
                </a:ext>
              </a:extLst>
            </p:cNvPr>
            <p:cNvSpPr/>
            <p:nvPr/>
          </p:nvSpPr>
          <p:spPr>
            <a:xfrm>
              <a:off x="50800" y="0"/>
              <a:ext cx="1063371" cy="101600"/>
            </a:xfrm>
            <a:custGeom>
              <a:avLst/>
              <a:gdLst/>
              <a:ahLst/>
              <a:cxnLst/>
              <a:rect l="l" t="t" r="r" b="b"/>
              <a:pathLst>
                <a:path w="1063371" h="101600">
                  <a:moveTo>
                    <a:pt x="0" y="0"/>
                  </a:moveTo>
                  <a:lnTo>
                    <a:pt x="1063371" y="0"/>
                  </a:lnTo>
                  <a:lnTo>
                    <a:pt x="10633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4B51E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4B5BEE2F-4CBC-AD11-6F8A-8612031E1986}"/>
              </a:ext>
            </a:extLst>
          </p:cNvPr>
          <p:cNvSpPr txBox="1"/>
          <p:nvPr/>
        </p:nvSpPr>
        <p:spPr>
          <a:xfrm>
            <a:off x="1028700" y="1818722"/>
            <a:ext cx="16497300" cy="788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8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D2DEF58-1213-DA25-D9EC-F1A2460259E1}"/>
              </a:ext>
            </a:extLst>
          </p:cNvPr>
          <p:cNvSpPr txBox="1"/>
          <p:nvPr/>
        </p:nvSpPr>
        <p:spPr>
          <a:xfrm>
            <a:off x="1028700" y="883920"/>
            <a:ext cx="791490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spc="14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SEMINAR PROPOSAL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35B9C03-E9A1-8CD1-4582-B4D3F19CB951}"/>
              </a:ext>
            </a:extLst>
          </p:cNvPr>
          <p:cNvGrpSpPr/>
          <p:nvPr/>
        </p:nvGrpSpPr>
        <p:grpSpPr>
          <a:xfrm>
            <a:off x="16848333" y="438306"/>
            <a:ext cx="821935" cy="815028"/>
            <a:chOff x="0" y="0"/>
            <a:chExt cx="1095913" cy="108670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DFE94D8-68DA-291F-4199-F91CE724003B}"/>
                </a:ext>
              </a:extLst>
            </p:cNvPr>
            <p:cNvSpPr/>
            <p:nvPr/>
          </p:nvSpPr>
          <p:spPr>
            <a:xfrm>
              <a:off x="0" y="0"/>
              <a:ext cx="1095883" cy="1086739"/>
            </a:xfrm>
            <a:custGeom>
              <a:avLst/>
              <a:gdLst/>
              <a:ahLst/>
              <a:cxnLst/>
              <a:rect l="l" t="t" r="r" b="b"/>
              <a:pathLst>
                <a:path w="1095883" h="1086739">
                  <a:moveTo>
                    <a:pt x="0" y="0"/>
                  </a:moveTo>
                  <a:lnTo>
                    <a:pt x="1095883" y="0"/>
                  </a:lnTo>
                  <a:lnTo>
                    <a:pt x="1095883" y="1086739"/>
                  </a:lnTo>
                  <a:lnTo>
                    <a:pt x="0" y="108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" b="3"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978246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6889" y="4822825"/>
            <a:ext cx="11614223" cy="92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896</Words>
  <Application>Microsoft Office PowerPoint</Application>
  <PresentationFormat>Custom</PresentationFormat>
  <Paragraphs>142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Poppins Bold</vt:lpstr>
      <vt:lpstr>Calibri</vt:lpstr>
      <vt:lpstr>Times New Roman Bold</vt:lpstr>
      <vt:lpstr>Times New Roman</vt:lpstr>
      <vt:lpstr>Poppins</vt:lpstr>
      <vt:lpstr>Arial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Proposal.pptx</dc:title>
  <dc:creator>Abdul Rahem Faqih</dc:creator>
  <cp:lastModifiedBy>Abdul Rahem Faqih</cp:lastModifiedBy>
  <cp:revision>8</cp:revision>
  <dcterms:created xsi:type="dcterms:W3CDTF">2006-08-16T00:00:00Z</dcterms:created>
  <dcterms:modified xsi:type="dcterms:W3CDTF">2026-06-04T11:13:57Z</dcterms:modified>
  <dc:identifier>DAG52rwzn0I</dc:identifier>
</cp:coreProperties>
</file>